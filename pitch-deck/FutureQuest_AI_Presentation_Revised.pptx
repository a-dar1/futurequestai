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85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12648" y="13258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FutureQuest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3E2EF"/>
                </a:solidFill>
              </a:rPr>
              <a:t>From career confusion to a college-ready profile safely.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2018" y="6144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7CC"/>
                </a:solidFill>
              </a:rPr>
              <a:t>Prepared by Aditya Dar, 2022A4PS0026P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944368"/>
            <a:ext cx="5349240" cy="969264"/>
          </a:xfrm>
          <a:prstGeom prst="roundRect">
            <a:avLst>
              <a:gd name="adj" fmla="val 16981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3182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36192" y="31729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 student: Aarav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6192" y="3456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7DA"/>
                </a:solidFill>
              </a:rPr>
              <a:t>Class 10 • choosing between Science, Commerce &amp; Humanities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572000"/>
            <a:ext cx="2971800" cy="502920"/>
          </a:xfrm>
          <a:prstGeom prst="roundRect">
            <a:avLst>
              <a:gd name="adj" fmla="val 27273"/>
            </a:avLst>
          </a:prstGeom>
          <a:solidFill>
            <a:srgbClr val="7B52FF"/>
          </a:solidFill>
          <a:ln w="12700">
            <a:solidFill>
              <a:srgbClr val="7B5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APK built and working</a:t>
            </a:r>
            <a:endParaRPr lang="en-US" sz="1150" dirty="0"/>
          </a:p>
        </p:txBody>
      </p:sp>
      <p:pic>
        <p:nvPicPr>
          <p:cNvPr id="13" name="Image 0" descr="/mnt/data/WhatsApp Image 2026-05-02 at 5.29.47 PM.jpeg"/>
          <p:cNvPicPr>
            <a:picLocks noChangeAspect="1"/>
          </p:cNvPicPr>
          <p:nvPr/>
        </p:nvPicPr>
        <p:blipFill>
          <a:blip r:embed="rId3"/>
          <a:srcRect t="34" b="34"/>
          <a:stretch/>
        </p:blipFill>
        <p:spPr>
          <a:xfrm>
            <a:off x="7772400" y="658368"/>
            <a:ext cx="2514600" cy="5440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103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is asked to make an adult decision before they have enough proof about themselves.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331"/>
                </a:solidFill>
              </a:rPr>
              <a:t>“Science, Commerce, or Humanities?”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" y="2441448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2667A"/>
                </a:solidFill>
              </a:rPr>
              <a:t>For a Class 10 student, It becomes a family decision, a status decision and most importantly a confidence decision.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52FF"/>
                </a:solidFill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3685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Too little exposure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3685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2667A"/>
                </a:solidFill>
              </a:rPr>
              <a:t>Most students know only about JEE or NEET.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430682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52FF"/>
                </a:solidFill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42885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Advice is one-time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42885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2667A"/>
                </a:solidFill>
              </a:rPr>
              <a:t>A report or counselling call cannot build readiness.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685800" y="49103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52FF"/>
                </a:solidFill>
              </a:rPr>
              <a:t>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4892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Parents need trust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4892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2667A"/>
                </a:solidFill>
              </a:rPr>
              <a:t>They need proof, visibility and safety not just AI answers.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629400" y="1325880"/>
            <a:ext cx="4892040" cy="48463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03720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331"/>
                </a:solidFill>
              </a:rPr>
              <a:t>What currently happens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95160" y="2011680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AFAFD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69480" y="213969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331"/>
                </a:solidFill>
              </a:rPr>
              <a:t>Marks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41080" y="21396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2667A"/>
                </a:solidFill>
              </a:rPr>
              <a:t>Student is judged by current scores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052560" y="2606040"/>
            <a:ext cx="0" cy="173736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995160" y="281635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AFAFD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269480" y="29443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331"/>
                </a:solidFill>
              </a:rPr>
              <a:t>Pressure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294436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2667A"/>
                </a:solidFill>
              </a:rPr>
              <a:t>Family and peer expectations take over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052560" y="3410712"/>
            <a:ext cx="0" cy="173736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95160" y="3621024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EEE9FF"/>
          </a:solidFill>
          <a:ln w="12700">
            <a:solidFill>
              <a:srgbClr val="7B5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69480" y="37490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2FF"/>
                </a:solidFill>
              </a:rPr>
              <a:t>Stream choice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374904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2667A"/>
                </a:solidFill>
              </a:rPr>
              <a:t>A direction gets locked too early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52560" y="4215384"/>
            <a:ext cx="0" cy="173736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995160" y="4425696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AFAFD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69480" y="45537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331"/>
                </a:solidFill>
              </a:rPr>
              <a:t>Late panic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41080" y="455371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2667A"/>
                </a:solidFill>
              </a:rPr>
              <a:t>College + applications become rushed</a:t>
            </a:r>
            <a:endParaRPr lang="en-US" sz="98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goal has to be sharper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D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FutureQuest is not trying to make students “feel guided”. It has to get them somewhere real.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By Class 12, the child should have: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2331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7A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98448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confident direction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3042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C7DA"/>
                </a:solidFill>
              </a:rPr>
              <a:t>stream + career themes tested with evidence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1323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7A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proof-of-work portfolio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9626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C7DA"/>
                </a:solidFill>
              </a:rPr>
              <a:t>projects, reflections, quests and internships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13232" y="3648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7A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Applications ready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6210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C7DA"/>
                </a:solidFill>
              </a:rPr>
              <a:t>essays, activity list, documents and deadlines in one profile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13232" y="43068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7A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4270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Parent alignment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42793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C7DA"/>
                </a:solidFill>
              </a:rPr>
              <a:t>a plan that parents have seen, rated and approved</a:t>
            </a:r>
            <a:endParaRPr lang="en-US" sz="1120" dirty="0"/>
          </a:p>
        </p:txBody>
      </p:sp>
      <p:pic>
        <p:nvPicPr>
          <p:cNvPr id="19" name="Image 0" descr="/mnt/data/WhatsApp Image 2026-05-02 at 5.29.49 PM.jpeg"/>
          <p:cNvPicPr>
            <a:picLocks noChangeAspect="1"/>
          </p:cNvPicPr>
          <p:nvPr/>
        </p:nvPicPr>
        <p:blipFill>
          <a:blip r:embed="rId3"/>
          <a:srcRect t="34" b="34"/>
          <a:stretch/>
        </p:blipFill>
        <p:spPr>
          <a:xfrm>
            <a:off x="7680960" y="658368"/>
            <a:ext cx="2514600" cy="5440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CA0F6-A0C5-845F-013F-5FE8A93456CB}"/>
              </a:ext>
            </a:extLst>
          </p:cNvPr>
          <p:cNvSpPr txBox="1"/>
          <p:nvPr/>
        </p:nvSpPr>
        <p:spPr>
          <a:xfrm>
            <a:off x="787400" y="5080000"/>
            <a:ext cx="5937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student must confidently be able to say, that they have discovered their passion and will work towards achieving their dream.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mobile AI companion that turns confusion and helplessness into a structured growth journey.</a:t>
            </a:r>
            <a:endParaRPr lang="en-US" sz="1450" dirty="0"/>
          </a:p>
        </p:txBody>
      </p:sp>
      <p:pic>
        <p:nvPicPr>
          <p:cNvPr id="4" name="Image 0" descr="/mnt/data/WhatsApp Image 2026-05-02 at 5.29.47 PM.jpeg"/>
          <p:cNvPicPr>
            <a:picLocks noChangeAspect="1"/>
          </p:cNvPicPr>
          <p:nvPr/>
        </p:nvPicPr>
        <p:blipFill>
          <a:blip r:embed="rId3"/>
          <a:srcRect t="53" b="53"/>
          <a:stretch/>
        </p:blipFill>
        <p:spPr>
          <a:xfrm>
            <a:off x="713232" y="1508760"/>
            <a:ext cx="196596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63240" y="1417320"/>
            <a:ext cx="3429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291840" y="16002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31"/>
                </a:solidFill>
              </a:rPr>
              <a:t>Future scan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91840" y="1856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playful questions to understand the student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040880" y="1417320"/>
            <a:ext cx="3429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269480" y="16002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31"/>
                </a:solidFill>
              </a:rPr>
              <a:t>Future avatar (AI image/video generator)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1856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a simple identity to start exploration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063240" y="2715768"/>
            <a:ext cx="3429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291840" y="2898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31"/>
                </a:solidFill>
              </a:rPr>
              <a:t>Career worlds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0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students try paths like game worlds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040880" y="2715768"/>
            <a:ext cx="3429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269480" y="2898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31"/>
                </a:solidFill>
              </a:rPr>
              <a:t>Quests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69480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weekly real-world actions, not passive advice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063240" y="4014216"/>
            <a:ext cx="3429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291840" y="4197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31"/>
                </a:solidFill>
              </a:rPr>
              <a:t>AI mentor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91840" y="4453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answers confusion with next steps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040880" y="4014216"/>
            <a:ext cx="34290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269480" y="4197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31"/>
                </a:solidFill>
              </a:rPr>
              <a:t>Parent report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69480" y="4453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safety, proof and family alignment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3063240" y="5532120"/>
            <a:ext cx="7406640" cy="502920"/>
          </a:xfrm>
          <a:prstGeom prst="roundRect">
            <a:avLst>
              <a:gd name="adj" fmla="val 21818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310128" y="568756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Positioning: We are not a </a:t>
            </a:r>
            <a:r>
              <a:rPr lang="en-US" sz="1250" b="1" dirty="0" err="1">
                <a:solidFill>
                  <a:srgbClr val="FFFFFF"/>
                </a:solidFill>
              </a:rPr>
              <a:t>Councilling</a:t>
            </a:r>
            <a:r>
              <a:rPr lang="en-US" sz="1250" b="1" dirty="0">
                <a:solidFill>
                  <a:srgbClr val="FFFFFF"/>
                </a:solidFill>
              </a:rPr>
              <a:t> Test but rather a safe growth loop from Class 8 to 12.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clean story: Aarav is confused today, and the app pushes him toward proof.</a:t>
            </a:r>
            <a:endParaRPr lang="en-US" sz="1450" dirty="0"/>
          </a:p>
        </p:txBody>
      </p:sp>
      <p:pic>
        <p:nvPicPr>
          <p:cNvPr id="4" name="Image 0" descr="/mnt/data/WhatsApp Image 2026-05-02 at 5.29.47 PM.jpeg"/>
          <p:cNvPicPr>
            <a:picLocks noChangeAspect="1"/>
          </p:cNvPicPr>
          <p:nvPr/>
        </p:nvPicPr>
        <p:blipFill>
          <a:blip r:embed="rId3"/>
          <a:srcRect l="80" r="80"/>
          <a:stretch/>
        </p:blipFill>
        <p:spPr>
          <a:xfrm>
            <a:off x="676656" y="1481328"/>
            <a:ext cx="1627632" cy="35295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" y="52578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14984" y="532638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52FF"/>
                </a:solidFill>
              </a:rPr>
              <a:t>Start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368296" y="3200400"/>
            <a:ext cx="33832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mnt/data/WhatsApp Image 2026-05-02 at 5.29.49 PM.jpeg"/>
          <p:cNvPicPr>
            <a:picLocks noChangeAspect="1"/>
          </p:cNvPicPr>
          <p:nvPr/>
        </p:nvPicPr>
        <p:blipFill>
          <a:blip r:embed="rId4"/>
          <a:srcRect l="80" r="80"/>
          <a:stretch/>
        </p:blipFill>
        <p:spPr>
          <a:xfrm>
            <a:off x="2889504" y="1481328"/>
            <a:ext cx="1627632" cy="35295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18104" y="52578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3227832" y="532638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52FF"/>
                </a:solidFill>
              </a:rPr>
              <a:t>Avatar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81144" y="3200400"/>
            <a:ext cx="33832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/mnt/data/WhatsApp Image 2026-05-02 at 5.29.48 PM.jpeg"/>
          <p:cNvPicPr>
            <a:picLocks noChangeAspect="1"/>
          </p:cNvPicPr>
          <p:nvPr/>
        </p:nvPicPr>
        <p:blipFill>
          <a:blip r:embed="rId5"/>
          <a:srcRect l="80" r="80"/>
          <a:stretch/>
        </p:blipFill>
        <p:spPr>
          <a:xfrm>
            <a:off x="5102352" y="1481328"/>
            <a:ext cx="1627632" cy="35295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30952" y="52578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5440680" y="532638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52FF"/>
                </a:solidFill>
              </a:rPr>
              <a:t>Worlds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793992" y="3200400"/>
            <a:ext cx="33832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/mnt/data/WhatsApp Image 2026-05-02 at 5.29.48 PM (1).jpeg"/>
          <p:cNvPicPr>
            <a:picLocks noChangeAspect="1"/>
          </p:cNvPicPr>
          <p:nvPr/>
        </p:nvPicPr>
        <p:blipFill>
          <a:blip r:embed="rId6"/>
          <a:srcRect l="80" r="80"/>
          <a:stretch/>
        </p:blipFill>
        <p:spPr>
          <a:xfrm>
            <a:off x="7315200" y="1481328"/>
            <a:ext cx="1627632" cy="35295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543800" y="52578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7653528" y="532638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52FF"/>
                </a:solidFill>
              </a:rPr>
              <a:t>Quest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9006840" y="3200400"/>
            <a:ext cx="33832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/mnt/data/WhatsApp Image 2026-05-02 at 5.29.48 PM (2).jpeg"/>
          <p:cNvPicPr>
            <a:picLocks noChangeAspect="1"/>
          </p:cNvPicPr>
          <p:nvPr/>
        </p:nvPicPr>
        <p:blipFill>
          <a:blip r:embed="rId7"/>
          <a:srcRect l="80" r="80"/>
          <a:stretch/>
        </p:blipFill>
        <p:spPr>
          <a:xfrm>
            <a:off x="9528048" y="1481328"/>
            <a:ext cx="1627632" cy="352958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756648" y="52578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9866376" y="532638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plan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731520" y="5806440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1005840" y="596188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331"/>
                </a:solidFill>
              </a:rPr>
              <a:t>The experience here is end-to-end and not just a chatbot screen. The student will be entertained while also working towards a better future.</a:t>
            </a:r>
            <a:endParaRPr lang="en-US" sz="12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matters more than any one feature.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50976" y="22128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Discover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55117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2667A"/>
                </a:solidFill>
              </a:rPr>
              <a:t>AI finds interests through playful questions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514600" y="2679192"/>
            <a:ext cx="38404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35808" y="2011680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63824" y="22128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50108" y="222427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Try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29280" y="2545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2667A"/>
                </a:solidFill>
              </a:rPr>
              <a:t>student completes a real career quest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27448" y="2679192"/>
            <a:ext cx="38404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248656" y="2018538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62956" y="2236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Prove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85816" y="2528443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2667A"/>
                </a:solidFill>
              </a:rPr>
              <a:t>work gets stored in portfolio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940296" y="2679192"/>
            <a:ext cx="38404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461504" y="2011680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75804" y="22336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Reflect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98664" y="253263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2667A"/>
                </a:solidFill>
              </a:rPr>
              <a:t>AI + parent review what changed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153144" y="2679192"/>
            <a:ext cx="384048" cy="0"/>
          </a:xfrm>
          <a:prstGeom prst="line">
            <a:avLst/>
          </a:prstGeom>
          <a:noFill/>
          <a:ln w="27940">
            <a:solidFill>
              <a:srgbClr val="7B5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74352" y="2010156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784080" y="220903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06940" y="25389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AD9EA"/>
                </a:solidFill>
              </a:rPr>
              <a:t>profile turns into internships and college applications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60120" y="44348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331"/>
                </a:solidFill>
              </a:rPr>
              <a:t>Every loop makes the next recommendation more trustworthy.</a:t>
            </a:r>
            <a:endParaRPr lang="en-US" sz="1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careers feel tryable, not scary.</a:t>
            </a:r>
            <a:endParaRPr lang="en-US" sz="1450" dirty="0"/>
          </a:p>
        </p:txBody>
      </p:sp>
      <p:pic>
        <p:nvPicPr>
          <p:cNvPr id="4" name="Image 0" descr="/mnt/data/WhatsApp Image 2026-05-02 at 5.29.49 PM.jpeg"/>
          <p:cNvPicPr>
            <a:picLocks noChangeAspect="1"/>
          </p:cNvPicPr>
          <p:nvPr/>
        </p:nvPicPr>
        <p:blipFill>
          <a:blip r:embed="rId3"/>
          <a:srcRect l="88" r="88"/>
          <a:stretch/>
        </p:blipFill>
        <p:spPr>
          <a:xfrm>
            <a:off x="777240" y="1188720"/>
            <a:ext cx="2057400" cy="4462272"/>
          </a:xfrm>
          <a:prstGeom prst="rect">
            <a:avLst/>
          </a:prstGeom>
        </p:spPr>
      </p:pic>
      <p:pic>
        <p:nvPicPr>
          <p:cNvPr id="5" name="Image 1" descr="/mnt/data/WhatsApp Image 2026-05-02 at 5.29.48 PM.jpeg"/>
          <p:cNvPicPr>
            <a:picLocks noChangeAspect="1"/>
          </p:cNvPicPr>
          <p:nvPr/>
        </p:nvPicPr>
        <p:blipFill>
          <a:blip r:embed="rId4"/>
          <a:srcRect l="88" r="88"/>
          <a:stretch/>
        </p:blipFill>
        <p:spPr>
          <a:xfrm>
            <a:off x="3063240" y="1188720"/>
            <a:ext cx="2057400" cy="44622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31"/>
                </a:solidFill>
              </a:rPr>
              <a:t>Future Avatar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687568" y="17007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667A"/>
                </a:solidFill>
              </a:rPr>
              <a:t>A simple identity to begin exploration.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6692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31"/>
                </a:solidFill>
              </a:rPr>
              <a:t>Career Worlds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687568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667A"/>
                </a:solidFill>
              </a:rPr>
              <a:t>Law, business, tech, design, psychology, science, each world has quests and XP.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669280" y="4160520"/>
            <a:ext cx="5029200" cy="713232"/>
          </a:xfrm>
          <a:prstGeom prst="roundRect">
            <a:avLst>
              <a:gd name="adj" fmla="val 16667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925312" y="438912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The tone is important: it should feel like a teen product instead of a school form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Quests are how the app creates proof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Advice becomes useful only when it turns into action.</a:t>
            </a:r>
            <a:endParaRPr lang="en-US" sz="1450" dirty="0"/>
          </a:p>
        </p:txBody>
      </p:sp>
      <p:pic>
        <p:nvPicPr>
          <p:cNvPr id="4" name="Image 0" descr="/mnt/data/WhatsApp Image 2026-05-02 at 5.29.48 PM (1).jpeg"/>
          <p:cNvPicPr>
            <a:picLocks noChangeAspect="1"/>
          </p:cNvPicPr>
          <p:nvPr/>
        </p:nvPicPr>
        <p:blipFill>
          <a:blip r:embed="rId3"/>
          <a:srcRect l="20" r="20"/>
          <a:stretch/>
        </p:blipFill>
        <p:spPr>
          <a:xfrm>
            <a:off x="7863840" y="822960"/>
            <a:ext cx="2148840" cy="4654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572768"/>
            <a:ext cx="6309360" cy="566928"/>
          </a:xfrm>
          <a:prstGeom prst="roundRect">
            <a:avLst>
              <a:gd name="adj" fmla="val 19355"/>
            </a:avLst>
          </a:prstGeom>
          <a:solidFill>
            <a:srgbClr val="EEE9FF"/>
          </a:solidFill>
          <a:ln w="12700">
            <a:solidFill>
              <a:srgbClr val="7B5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50976" y="17373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331"/>
                </a:solidFill>
              </a:rPr>
              <a:t>Debate Quest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310128" y="17373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Record a 60-sec argument. Builds communication.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85800" y="2468880"/>
            <a:ext cx="6309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50976" y="26334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331"/>
                </a:solidFill>
              </a:rPr>
              <a:t>Mini Internship DM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310128" y="26334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Write a message asking to shadow a founder.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85800" y="3364992"/>
            <a:ext cx="6309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50976" y="35295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331"/>
                </a:solidFill>
              </a:rPr>
              <a:t>College Compare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310128" y="35295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Compare 3 options with fees, entrance and fit.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85800" y="4261104"/>
            <a:ext cx="63093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50976" y="44256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331"/>
                </a:solidFill>
              </a:rPr>
              <a:t>Parent Conversation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310128" y="44256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Explain one path with evidence, not emotion.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713232" y="5394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331"/>
                </a:solidFill>
              </a:rPr>
              <a:t>How we solve the trust gap?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1520" y="57790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2667A"/>
                </a:solidFill>
              </a:rPr>
              <a:t>Parents do not have to trust a black-box answer. They can see the student’s actions, ratings and progress.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 mentor moment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D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should not sound wise. It should make the next step obvious.</a:t>
            </a:r>
            <a:endParaRPr lang="en-US" sz="1450" dirty="0"/>
          </a:p>
        </p:txBody>
      </p:sp>
      <p:pic>
        <p:nvPicPr>
          <p:cNvPr id="4" name="Image 0" descr="/mnt/data/WhatsApp Image 2026-05-02 at 5.29.48 PM (2).jpeg"/>
          <p:cNvPicPr>
            <a:picLocks noChangeAspect="1"/>
          </p:cNvPicPr>
          <p:nvPr/>
        </p:nvPicPr>
        <p:blipFill>
          <a:blip r:embed="rId3"/>
          <a:srcRect l="146" r="146"/>
          <a:stretch/>
        </p:blipFill>
        <p:spPr>
          <a:xfrm>
            <a:off x="7772400" y="749808"/>
            <a:ext cx="2240280" cy="4864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737360"/>
            <a:ext cx="4572000" cy="676656"/>
          </a:xfrm>
          <a:prstGeom prst="roundRect">
            <a:avLst>
              <a:gd name="adj" fmla="val 20270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51560" y="190195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FF7A"/>
                </a:solidFill>
              </a:rPr>
              <a:t>Student asks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148840" y="18653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“I’m confused between commerce and humanities.”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816352"/>
            <a:ext cx="5577840" cy="978408"/>
          </a:xfrm>
          <a:prstGeom prst="roundRect">
            <a:avLst>
              <a:gd name="adj" fmla="val 140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51560" y="30449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52FF"/>
                </a:solidFill>
              </a:rPr>
              <a:t>AI response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48840" y="2980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331"/>
                </a:solidFill>
              </a:rPr>
              <a:t>Do not choose only by marks. This week test both paths: one business quest, one debate quest and one writing quest.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41248" y="4663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So, the AI is not the answer. The next action is.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94360" y="6135624"/>
            <a:ext cx="796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1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contains predefined responses to save on API costs. This will in the future possibly contain a real trained AI model. 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factor: every experience is 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users should be able to see what other parents and students experienced before joining.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12724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Student rating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350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67A"/>
                </a:solidFill>
              </a:rPr>
              <a:t>Was the quest useful, fun and clear?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12724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Parent rating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350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67A"/>
                </a:solidFill>
              </a:rPr>
              <a:t>Was the activity safe and worth approving?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1691640"/>
            <a:ext cx="312724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820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331"/>
                </a:solidFill>
              </a:rPr>
              <a:t>Mentor / college rating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350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67A"/>
                </a:solidFill>
              </a:rPr>
              <a:t>Did the opportunity actually deliver value?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188720" y="3977640"/>
            <a:ext cx="9784080" cy="1143000"/>
          </a:xfrm>
          <a:prstGeom prst="roundRect">
            <a:avLst>
              <a:gd name="adj" fmla="val 14400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00200" y="43159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Visible trust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77640" y="425196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1F2"/>
                </a:solidFill>
              </a:rPr>
              <a:t>Every quest, internship, mentor session and college interaction has a trust score. New users see ratings before participating.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80560" y="5532120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C6FF7A"/>
          </a:solidFill>
          <a:ln w="12700">
            <a:solidFill>
              <a:srgbClr val="C6F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90288" y="560070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331"/>
                </a:solidFill>
              </a:rPr>
              <a:t>Build trust before scale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 mode is not optional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Indian students, trust has to include the family.</a:t>
            </a:r>
            <a:endParaRPr lang="en-US" sz="1450" dirty="0"/>
          </a:p>
        </p:txBody>
      </p:sp>
      <p:pic>
        <p:nvPicPr>
          <p:cNvPr id="4" name="Image 0" descr="/mnt/data/WhatsApp Image 2026-05-02 at 5.29.47 PM (1).jpeg"/>
          <p:cNvPicPr>
            <a:picLocks noChangeAspect="1"/>
          </p:cNvPicPr>
          <p:nvPr/>
        </p:nvPicPr>
        <p:blipFill>
          <a:blip r:embed="rId3"/>
          <a:srcRect l="36" r="36"/>
          <a:stretch/>
        </p:blipFill>
        <p:spPr>
          <a:xfrm>
            <a:off x="777240" y="1298448"/>
            <a:ext cx="19202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0" y="1234440"/>
            <a:ext cx="6949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977640" y="1417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331"/>
                </a:solidFill>
              </a:rPr>
              <a:t>Daily report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5943600" y="141732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what the child explored, asked, completed and skipped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3657600" y="2194560"/>
            <a:ext cx="6949440" cy="658368"/>
          </a:xfrm>
          <a:prstGeom prst="roundRect">
            <a:avLst>
              <a:gd name="adj" fmla="val 16667"/>
            </a:avLst>
          </a:prstGeom>
          <a:solidFill>
            <a:srgbClr val="EEE9FF"/>
          </a:solidFill>
          <a:ln w="12700">
            <a:solidFill>
              <a:srgbClr val="7B5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977640" y="2377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331"/>
                </a:solidFill>
              </a:rPr>
              <a:t>Approval rights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5943600" y="237744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parents approve external activities, cohorts, mentors and opportunities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657600" y="3154680"/>
            <a:ext cx="6949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977640" y="3337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331"/>
                </a:solidFill>
              </a:rPr>
              <a:t>Engagement visibility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5943600" y="333756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parents see worlds, quests, answers and portfolio progress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657600" y="4114800"/>
            <a:ext cx="6949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977640" y="4297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331"/>
                </a:solidFill>
              </a:rPr>
              <a:t>Conversation prompts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5943600" y="429768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2667A"/>
                </a:solidFill>
              </a:rPr>
              <a:t>the app gives parents better questions to ask at home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657600" y="5349240"/>
            <a:ext cx="6949440" cy="530352"/>
          </a:xfrm>
          <a:prstGeom prst="roundRect">
            <a:avLst>
              <a:gd name="adj" fmla="val 20690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886200" y="5522976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FFFFF"/>
                </a:solidFill>
              </a:rPr>
              <a:t>Principle: the child gets freedom to explore; parents get enough visibility to feel safe.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is a product feature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D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minors, safety has to be designed into the product from day one.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7A"/>
                </a:solidFill>
              </a:rPr>
              <a:t>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4904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No unapproved activity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611880" y="1490472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external mentors, internships, cohorts and college connects need parent approval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7A"/>
                </a:solidFill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20370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Minimum data storage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611880" y="2203704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store only what is needed for the student profile and portfolio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77240" y="29352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7A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91693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Consent before sharing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611880" y="2916936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child/parent consent before any data moves to schools, colleges or partners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77240" y="36484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7A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63016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No direct kid-to-kid DMs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611880" y="363016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community is structured, moderated and visible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77240" y="43616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F7A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434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Delete / export controls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611880" y="4343400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families can remove or export profile data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549640" y="1417320"/>
            <a:ext cx="2560320" cy="3474720"/>
          </a:xfrm>
          <a:prstGeom prst="roundRect">
            <a:avLst>
              <a:gd name="adj" fmla="val 6429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87968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Daily parent digest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3960" y="2395728"/>
            <a:ext cx="2057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3E2F0"/>
                </a:solidFill>
              </a:rPr>
              <a:t>Explored: Law &amp; Policy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E2F0"/>
                </a:solidFill>
              </a:rPr>
              <a:t>Completed: Debate Quest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E2F0"/>
                </a:solidFill>
              </a:rPr>
              <a:t>Asked AI: stream decision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E2F0"/>
                </a:solidFill>
              </a:rPr>
              <a:t>Needs approval: Mentor AMA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411480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C6FF7A"/>
          </a:solidFill>
          <a:ln w="12700">
            <a:solidFill>
              <a:srgbClr val="C6F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62288" y="418338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331"/>
                </a:solidFill>
              </a:rPr>
              <a:t>Approve / deny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without unsafe chatting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Kids can learn from each other without turning the app into open social media.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846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8992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331"/>
                </a:solidFill>
              </a:rPr>
              <a:t>Question 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B52FF"/>
                </a:solidFill>
              </a:rPr>
              <a:t>“How did you write your first internship DM?”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807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2667A"/>
                </a:solidFill>
              </a:rPr>
              <a:t>Students answer in structured templates. No names, no phone numbers, no direct messages.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1097280" y="3520440"/>
            <a:ext cx="4069080" cy="0"/>
          </a:xfrm>
          <a:prstGeom prst="line">
            <a:avLst/>
          </a:prstGeom>
          <a:noFill/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2667A"/>
                </a:solidFill>
              </a:rPr>
              <a:t>AI summarizes the best answers and removes unsafe content before it is visible.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56832" y="169164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 direct chat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11312" y="1691640"/>
            <a:ext cx="2258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AD9EA"/>
                </a:solidFill>
              </a:rPr>
              <a:t>no DMs or private groups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400800" y="2304288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56832" y="244144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Moderated replies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11312" y="2441448"/>
            <a:ext cx="2258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2667A"/>
                </a:solidFill>
              </a:rPr>
              <a:t>AI + human review for sensitive topics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00800" y="3054096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56832" y="31912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Parent visibility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11312" y="3191256"/>
            <a:ext cx="2258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2667A"/>
                </a:solidFill>
              </a:rPr>
              <a:t>parents see what their child asks/answers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400800" y="3803904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56832" y="3941064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Reputation score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11312" y="3941064"/>
            <a:ext cx="2258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2667A"/>
                </a:solidFill>
              </a:rPr>
              <a:t>helpful answers earn trust, not followers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bigger outcome: one student profile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ambition: a CommonApp-style connection layer for college and opportunity applications.</a:t>
            </a:r>
            <a:endParaRPr lang="en-US" sz="1450" dirty="0"/>
          </a:p>
        </p:txBody>
      </p:sp>
      <p:pic>
        <p:nvPicPr>
          <p:cNvPr id="4" name="Image 0" descr="/mnt/data/WhatsApp Image 2026-05-02 at 5.29.48 PM (1).jpeg"/>
          <p:cNvPicPr>
            <a:picLocks noChangeAspect="1"/>
          </p:cNvPicPr>
          <p:nvPr/>
        </p:nvPicPr>
        <p:blipFill>
          <a:blip r:embed="rId3"/>
          <a:srcRect l="74" r="74"/>
          <a:stretch/>
        </p:blipFill>
        <p:spPr>
          <a:xfrm>
            <a:off x="777240" y="1325880"/>
            <a:ext cx="1847088" cy="4005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0" y="12344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895344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FutureQuest Profile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14300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65392" y="1325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Colleges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65392" y="156362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2667A"/>
                </a:solidFill>
              </a:rPr>
              <a:t>applications + essays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8549640" y="114300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14232" y="1325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Internships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14232" y="156362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2667A"/>
                </a:solidFill>
              </a:rPr>
              <a:t>verified student portfolio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400800" y="246888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565392" y="26517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Schools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65392" y="288950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2667A"/>
                </a:solidFill>
              </a:rPr>
              <a:t>counsellor dashboard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49640" y="246888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714232" y="26517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331"/>
                </a:solidFill>
              </a:rPr>
              <a:t>Parents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714232" y="288950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2667A"/>
                </a:solidFill>
              </a:rPr>
              <a:t>approvals + reports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370332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331"/>
                </a:solidFill>
              </a:rPr>
              <a:t>What the child finally gets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730752" y="46451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2667A"/>
                </a:solidFill>
              </a:rPr>
              <a:t>One profile that can carry their interests, projects, reflections, parent approvals, activity history and application material.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3730752" y="5413248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A7E92"/>
                </a:solidFill>
              </a:rPr>
              <a:t>Reference model: Common App streamlines college applications for 1,000+ member colleges. FutureQuest can build an India/student-growth-first version over time.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adopts it first (TAM)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is huge, but the first wedge should be specific.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91840" cy="1828800"/>
          </a:xfrm>
          <a:prstGeom prst="roundRect">
            <a:avLst>
              <a:gd name="adj" fmla="val 9000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560" y="1847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6FF7A"/>
                </a:solidFill>
              </a:rPr>
              <a:t>24.8 crore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097280" y="2359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school students in India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816352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B8B7CC"/>
                </a:solidFill>
              </a:rPr>
              <a:t>Source: PIB / Economic Survey 2024–25, UDISE+ 2023–24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B5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663440" y="1783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331"/>
                </a:solidFill>
              </a:rPr>
              <a:t>Class 9–10 students in Tier 1–3 private and affordable private schools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B5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331"/>
                </a:solidFill>
              </a:rPr>
              <a:t>stream choice pressure + parents willing to pay for clarity + AI makes personalization cheap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794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B5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63440" y="4069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331"/>
                </a:solidFill>
              </a:rPr>
              <a:t>Hinglish/Hindi, school pilots, CSR/govt access, college/internship partners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1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faced this issue myself in class 12, so I decided to put my thoughts on the solution into this pitch deck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 + growth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free for students. Monetize trust, outcomes and distribution.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310896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9848" y="17830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331"/>
                </a:solidFill>
              </a:rPr>
              <a:t>Free loop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4712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Future avatar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Limited quests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Basic portfolio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Safe Q&amp;A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4480560" y="1481328"/>
            <a:ext cx="3108960" cy="1901952"/>
          </a:xfrm>
          <a:prstGeom prst="roundRect">
            <a:avLst>
              <a:gd name="adj" fmla="val 8654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73168" y="17830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Power user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28032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DFDDF0"/>
                </a:solidFill>
              </a:rPr>
              <a:t>₹99–₹299/month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DFDDF0"/>
                </a:solidFill>
              </a:rPr>
              <a:t>Parent daily reports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DFDDF0"/>
                </a:solidFill>
              </a:rPr>
              <a:t>Application tools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DFDDF0"/>
                </a:solidFill>
              </a:rPr>
              <a:t>Advanced AI mentor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8183880" y="1481328"/>
            <a:ext cx="310896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76488" y="17830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331"/>
                </a:solidFill>
              </a:rPr>
              <a:t>Schools / partners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31352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Career readiness program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Counsellor dashboard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Parent sessions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62667A"/>
                </a:solidFill>
              </a:rPr>
              <a:t>College/internship rails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331"/>
                </a:solidFill>
              </a:rPr>
              <a:t>Near-zero-cost growth loops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41248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50976" y="477774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7B52FF"/>
                </a:solidFill>
              </a:rPr>
              <a:t>shareable avatar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3721608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31336" y="477774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7B52FF"/>
                </a:solidFill>
              </a:rPr>
              <a:t>school challenge weeks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601968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11696" y="477774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7B52FF"/>
                </a:solidFill>
              </a:rPr>
              <a:t>safe Q&amp;A reputation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41248" y="523951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50976" y="530809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7B52FF"/>
                </a:solidFill>
              </a:rPr>
              <a:t>portfolio links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3721608" y="523951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31336" y="530809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7B52FF"/>
                </a:solidFill>
              </a:rPr>
              <a:t>parent referrals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can become hard to copy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7406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D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 is not “AI chat”. It is the trusted student growth network around it.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FF7A"/>
                </a:solidFill>
              </a:rPr>
              <a:t>01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25880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</a:rPr>
              <a:t>Student growth graph</a:t>
            </a:r>
            <a:endParaRPr lang="en-US" sz="1360" dirty="0"/>
          </a:p>
        </p:txBody>
      </p:sp>
      <p:sp>
        <p:nvSpPr>
          <p:cNvPr id="6" name="Text 4"/>
          <p:cNvSpPr/>
          <p:nvPr/>
        </p:nvSpPr>
        <p:spPr>
          <a:xfrm>
            <a:off x="3931920" y="1527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years of quests, reflections, skills, interests and avoided tasks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FF7A"/>
                </a:solidFill>
              </a:rPr>
              <a:t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</a:rPr>
              <a:t>Trust data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3931920" y="2240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ratings from students + parents visible before experiences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77240" y="29809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FF7A"/>
                </a:solidFill>
              </a:rPr>
              <a:t>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953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</a:rPr>
              <a:t>Portfolio proof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3931920" y="29535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verified projects and experiences become portable identity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77240" y="3694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FF7A"/>
                </a:solidFill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25880" y="3666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</a:rPr>
              <a:t>Parent approval layer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3931920" y="36667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family trust becomes part of product adoption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77240" y="44074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FF7A"/>
                </a:solidFill>
              </a:rPr>
              <a:t>05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4379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</a:rPr>
              <a:t>Application rails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931920" y="43799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AC9DE"/>
                </a:solidFill>
              </a:rPr>
              <a:t>colleges, internships and schools connect to one student profile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057400" cy="2286000"/>
          </a:xfrm>
          <a:prstGeom prst="roundRect">
            <a:avLst>
              <a:gd name="adj" fmla="val 7111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372600" y="2240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B6E"/>
                </a:solidFill>
              </a:rPr>
              <a:t>Chatbot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2542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7DA"/>
                </a:solidFill>
              </a:rPr>
              <a:t>easy to copy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2926080"/>
            <a:ext cx="777240" cy="0"/>
          </a:xfrm>
          <a:prstGeom prst="line">
            <a:avLst/>
          </a:prstGeom>
          <a:noFill/>
          <a:ln w="25400">
            <a:solidFill>
              <a:srgbClr val="C6FF7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98864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FF7A"/>
                </a:solidFill>
              </a:rPr>
              <a:t>Trusted network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could fail in 12 months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how I would reduce that risk.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560" y="145389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11331"/>
                </a:solidFill>
              </a:rPr>
              <a:t>Low retention</a:t>
            </a:r>
            <a:endParaRPr lang="en-US" sz="1170" dirty="0"/>
          </a:p>
        </p:txBody>
      </p:sp>
      <p:sp>
        <p:nvSpPr>
          <p:cNvPr id="6" name="Text 4"/>
          <p:cNvSpPr/>
          <p:nvPr/>
        </p:nvSpPr>
        <p:spPr>
          <a:xfrm>
            <a:off x="3246120" y="14538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667A"/>
                </a:solidFill>
              </a:rPr>
              <a:t>quests, streaks, squads and weekly challenges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002536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FAFAFD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1305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11331"/>
                </a:solidFill>
              </a:rPr>
              <a:t>Parent trust gap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3246120" y="21305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667A"/>
                </a:solidFill>
              </a:rPr>
              <a:t>daily reports, ratings, approvals and transparent reasoning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11331"/>
                </a:solidFill>
              </a:rPr>
              <a:t>Safety incident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3246120" y="2807208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667A"/>
                </a:solidFill>
              </a:rPr>
              <a:t>no DMs, moderation, consent, parent controls, data minimization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355848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FAFAFD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348386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11331"/>
                </a:solidFill>
              </a:rPr>
              <a:t>Generic AI risk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3246120" y="348386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667A"/>
                </a:solidFill>
              </a:rPr>
              <a:t>portfolio, ratings, application rails and student graph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032504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11331"/>
                </a:solidFill>
              </a:rPr>
              <a:t>Slow school sales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3246120" y="4160520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667A"/>
                </a:solidFill>
              </a:rPr>
              <a:t>start D2C + challenge weeks, then sell pilots to schools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193792"/>
            <a:ext cx="10652760" cy="640080"/>
          </a:xfrm>
          <a:prstGeom prst="roundRect">
            <a:avLst>
              <a:gd name="adj" fmla="val 17143"/>
            </a:avLst>
          </a:prstGeom>
          <a:solidFill>
            <a:srgbClr val="111031"/>
          </a:solidFill>
          <a:ln w="12700">
            <a:solidFill>
              <a:srgbClr val="1110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97280" y="5431536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Next build priority: add parent approval flow + rated experiences + safe Q&amp;A before adding more career content.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FutureQuest AI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08" y="18745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The product is not “career advice”.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24414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3E2F0"/>
                </a:solidFill>
              </a:rPr>
              <a:t>It is a safe system that helps a student discover, prove, explain and apply for their future.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29590" y="3348228"/>
            <a:ext cx="1920240" cy="685800"/>
          </a:xfrm>
          <a:prstGeom prst="roundRect">
            <a:avLst>
              <a:gd name="adj" fmla="val 20000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712470" y="35311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C6FF7A"/>
                </a:solidFill>
              </a:rPr>
              <a:t>Prorotype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2470" y="38054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8C7DA"/>
                </a:solidFill>
              </a:rPr>
              <a:t>Built!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861310" y="3348228"/>
            <a:ext cx="1920240" cy="685800"/>
          </a:xfrm>
          <a:prstGeom prst="roundRect">
            <a:avLst>
              <a:gd name="adj" fmla="val 20000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44190" y="35311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FF7A"/>
                </a:solidFill>
              </a:rPr>
              <a:t>Trust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4190" y="38054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8C7DA"/>
                </a:solidFill>
              </a:rPr>
              <a:t>Defined!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193030" y="3348228"/>
            <a:ext cx="1920240" cy="685800"/>
          </a:xfrm>
          <a:prstGeom prst="roundRect">
            <a:avLst>
              <a:gd name="adj" fmla="val 20000"/>
            </a:avLst>
          </a:prstGeom>
          <a:solidFill>
            <a:srgbClr val="2B2A50"/>
          </a:solidFill>
          <a:ln w="12700">
            <a:solidFill>
              <a:srgbClr val="2B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75910" y="35311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FF7A"/>
                </a:solidFill>
              </a:rPr>
              <a:t>Outcome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75910" y="38054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8C7DA"/>
                </a:solidFill>
              </a:rPr>
              <a:t>college-ready profile!</a:t>
            </a:r>
            <a:endParaRPr lang="en-US" sz="980" dirty="0"/>
          </a:p>
        </p:txBody>
      </p:sp>
      <p:pic>
        <p:nvPicPr>
          <p:cNvPr id="14" name="Image 0" descr="/mnt/data/WhatsApp Image 2026-05-02 at 5.29.48 PM (2).jpeg"/>
          <p:cNvPicPr>
            <a:picLocks noChangeAspect="1"/>
          </p:cNvPicPr>
          <p:nvPr/>
        </p:nvPicPr>
        <p:blipFill>
          <a:blip r:embed="rId3"/>
          <a:srcRect t="9" b="9"/>
          <a:stretch/>
        </p:blipFill>
        <p:spPr>
          <a:xfrm>
            <a:off x="7818120" y="685800"/>
            <a:ext cx="2331720" cy="50474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6281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7DA"/>
                </a:solidFill>
              </a:rPr>
              <a:t>Aditya Dar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C2CE0A-B325-0284-91B3-68DC48461B3E}"/>
              </a:ext>
            </a:extLst>
          </p:cNvPr>
          <p:cNvSpPr txBox="1"/>
          <p:nvPr/>
        </p:nvSpPr>
        <p:spPr>
          <a:xfrm>
            <a:off x="2686050" y="4991100"/>
            <a:ext cx="431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96696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2960" y="1618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76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2FF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2585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331"/>
                </a:solidFill>
              </a:rPr>
              <a:t>PIB / Economic Survey 2024–25: 24.8 crore students across 14.72 lakh schools with 98 lakh teachers, based on UDISE+ 2023–24.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22960" y="2935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2FF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29169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331"/>
                </a:solidFill>
              </a:rPr>
              <a:t>Common App: online application platform for 1,100+ member colleges; used as reference model for the future application layer.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22960" y="3593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2FF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35753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331"/>
                </a:solidFill>
              </a:rPr>
              <a:t>Mindler: existing career counselling offerings for Class 8–9 stream selection and Class 10–12 career planning.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2FF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42336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331"/>
                </a:solidFill>
              </a:rPr>
              <a:t>Prototype screenshots: FutureQuest AI APK built with Expo / EAS.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E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1712</Words>
  <Application>Microsoft Office PowerPoint</Application>
  <PresentationFormat>Widescreen</PresentationFormat>
  <Paragraphs>309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FutureQuest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FutureQuest AI — Revised Pitch Deck</dc:title>
  <dc:subject>AI Companion prototype pitch deck</dc:subject>
  <dc:creator>Aditya Dar</dc:creator>
  <cp:lastModifiedBy>Aditya Dar</cp:lastModifiedBy>
  <cp:revision>3</cp:revision>
  <dcterms:created xsi:type="dcterms:W3CDTF">2026-05-02T18:25:21Z</dcterms:created>
  <dcterms:modified xsi:type="dcterms:W3CDTF">2026-05-02T20:47:34Z</dcterms:modified>
</cp:coreProperties>
</file>